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2.png"/><Relationship Id="rId6" Type="http://schemas.openxmlformats.org/officeDocument/2006/relationships/image" Target="../media/image-8-3.png"/><Relationship Id="rId7" Type="http://schemas.openxmlformats.org/officeDocument/2006/relationships/image" Target="../media/image-8-4.png"/><Relationship Id="rId8" Type="http://schemas.openxmlformats.org/officeDocument/2006/relationships/image" Target="../media/image-8-2.png"/><Relationship Id="rId9" Type="http://schemas.openxmlformats.org/officeDocument/2006/relationships/image" Target="../media/image-8-3.png"/><Relationship Id="rId10" Type="http://schemas.openxmlformats.org/officeDocument/2006/relationships/image" Target="../media/image-8-4.png"/><Relationship Id="rId11" Type="http://schemas.openxmlformats.org/officeDocument/2006/relationships/image" Target="../media/image-8-2.png"/><Relationship Id="rId12" Type="http://schemas.openxmlformats.org/officeDocument/2006/relationships/image" Target="../media/image-8-3.png"/><Relationship Id="rId13" Type="http://schemas.openxmlformats.org/officeDocument/2006/relationships/image" Target="../media/image-8-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2.png"/><Relationship Id="rId4" Type="http://schemas.openxmlformats.org/officeDocument/2006/relationships/image" Target="../media/image-1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548640"/>
            <a:ext cx="4023360" cy="0"/>
          </a:xfrm>
          <a:prstGeom prst="line">
            <a:avLst/>
          </a:prstGeom>
          <a:noFill/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1170432"/>
            <a:ext cx="4023360" cy="0"/>
          </a:xfrm>
          <a:prstGeom prst="line">
            <a:avLst/>
          </a:prstGeom>
          <a:noFill/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1792224"/>
            <a:ext cx="4023360" cy="0"/>
          </a:xfrm>
          <a:prstGeom prst="line">
            <a:avLst/>
          </a:prstGeom>
          <a:noFill/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2414016"/>
            <a:ext cx="4023360" cy="0"/>
          </a:xfrm>
          <a:prstGeom prst="line">
            <a:avLst/>
          </a:prstGeom>
          <a:noFill/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3035808"/>
            <a:ext cx="4023360" cy="0"/>
          </a:xfrm>
          <a:prstGeom prst="line">
            <a:avLst/>
          </a:prstGeom>
          <a:noFill/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0" y="3657600"/>
            <a:ext cx="4023360" cy="0"/>
          </a:xfrm>
          <a:prstGeom prst="line">
            <a:avLst/>
          </a:prstGeom>
          <a:noFill/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0" y="4279392"/>
            <a:ext cx="4023360" cy="0"/>
          </a:xfrm>
          <a:prstGeom prst="line">
            <a:avLst/>
          </a:prstGeom>
          <a:noFill/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4901184"/>
            <a:ext cx="4023360" cy="0"/>
          </a:xfrm>
          <a:prstGeom prst="line">
            <a:avLst/>
          </a:prstGeom>
          <a:noFill/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0" y="5522976"/>
            <a:ext cx="4023360" cy="0"/>
          </a:xfrm>
          <a:prstGeom prst="line">
            <a:avLst/>
          </a:prstGeom>
          <a:noFill/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5280" y="6144768"/>
            <a:ext cx="4023360" cy="0"/>
          </a:xfrm>
          <a:prstGeom prst="line">
            <a:avLst/>
          </a:prstGeom>
          <a:noFill/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7260" y="1074420"/>
            <a:ext cx="960120" cy="960120"/>
          </a:xfrm>
          <a:prstGeom prst="ellipse">
            <a:avLst/>
          </a:prstGeom>
          <a:solidFill>
            <a:srgbClr val="B8874A"/>
          </a:solidFill>
          <a:ln/>
        </p:spPr>
      </p:sp>
      <p:pic>
        <p:nvPicPr>
          <p:cNvPr id="13" name="Image 0" descr="/home/claude/sms-deck/icons/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290" y="1314450"/>
            <a:ext cx="480060" cy="4800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88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REGISTRAR’S DESK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0352" y="269748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Management System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548640" y="3794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dashboard to add, search, edit and track every student record — built with HTML, CSS and JavaScript.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4864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Walkthrough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66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student records by hand doesn’t scale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BF8F2"/>
          </a:solidFill>
          <a:ln w="12700">
            <a:solidFill>
              <a:srgbClr val="E4DBC8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2286000"/>
            <a:ext cx="822960" cy="822960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6" name="Image 0" descr="/home/claude/sms-deck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4917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918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to search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84048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lists or scattered spreadsheets make finding one record a manual, page-by-page search.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201168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BF8F2"/>
          </a:solidFill>
          <a:ln w="12700">
            <a:solidFill>
              <a:srgbClr val="E4DBC8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46420" y="2286000"/>
            <a:ext cx="822960" cy="822960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11" name="Image 1" descr="/home/claude/sms-deck/icons/tra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4917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2918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to lose or duplicate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17720" y="384048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files and disconnected copies drift out of sync and get misplaced.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201168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BF8F2"/>
          </a:solidFill>
          <a:ln w="12700">
            <a:solidFill>
              <a:srgbClr val="E4DBC8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95460" y="2286000"/>
            <a:ext cx="822960" cy="822960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16" name="Image 2" descr="/home/claude/sms-deck/icons/sta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24917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2918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quick overview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66760" y="384048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There’s no easy way to see totals, gender split, or how students are spread across courses.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prototype replaces all of that with one searchable, always-up-to-date dashboard.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 SYSTEM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66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simple steps power the whole system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22376" y="2148840"/>
            <a:ext cx="32461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5875">
            <a:solidFill>
              <a:srgbClr val="E4DBC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11096" y="2446020"/>
            <a:ext cx="868680" cy="868680"/>
          </a:xfrm>
          <a:prstGeom prst="ellipse">
            <a:avLst/>
          </a:prstGeom>
          <a:solidFill>
            <a:srgbClr val="B8874A"/>
          </a:solidFill>
          <a:ln/>
        </p:spPr>
      </p:sp>
      <p:pic>
        <p:nvPicPr>
          <p:cNvPr id="6" name="Image 0" descr="/home/claude/sms-deck/icons/a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8266" y="2663190"/>
            <a:ext cx="434340" cy="4343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34747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Add Student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96696" y="3931920"/>
            <a:ext cx="2697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staff member fills in a simple form: name, email, phone, gender, course, year and registration date.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023360" y="3520440"/>
            <a:ext cx="393192" cy="274320"/>
          </a:xfrm>
          <a:prstGeom prst="rightArrow">
            <a:avLst/>
          </a:prstGeom>
          <a:solidFill>
            <a:srgbClr val="96692F"/>
          </a:solidFill>
          <a:ln/>
        </p:spPr>
      </p:sp>
      <p:sp>
        <p:nvSpPr>
          <p:cNvPr id="10" name="Shape 7"/>
          <p:cNvSpPr/>
          <p:nvPr/>
        </p:nvSpPr>
        <p:spPr>
          <a:xfrm>
            <a:off x="4471416" y="2148840"/>
            <a:ext cx="32461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5875">
            <a:solidFill>
              <a:srgbClr val="E4DBC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0136" y="2446020"/>
            <a:ext cx="868680" cy="868680"/>
          </a:xfrm>
          <a:prstGeom prst="ellipse">
            <a:avLst/>
          </a:prstGeom>
          <a:solidFill>
            <a:srgbClr val="B8874A"/>
          </a:solidFill>
          <a:ln/>
        </p:spPr>
      </p:sp>
      <p:pic>
        <p:nvPicPr>
          <p:cNvPr id="12" name="Image 1" descr="/home/claude/sms-deck/icons/s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306" y="2663190"/>
            <a:ext cx="434340" cy="4343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0016" y="34747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Save Student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45736" y="3931920"/>
            <a:ext cx="2697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is validated, then saved automatically to the browser’s storage — no server needed.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772400" y="3520440"/>
            <a:ext cx="393192" cy="274320"/>
          </a:xfrm>
          <a:prstGeom prst="rightArrow">
            <a:avLst/>
          </a:prstGeom>
          <a:solidFill>
            <a:srgbClr val="96692F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0456" y="2148840"/>
            <a:ext cx="32461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5875">
            <a:solidFill>
              <a:srgbClr val="E4DBC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409176" y="2446020"/>
            <a:ext cx="868680" cy="868680"/>
          </a:xfrm>
          <a:prstGeom prst="ellipse">
            <a:avLst/>
          </a:prstGeom>
          <a:solidFill>
            <a:srgbClr val="B8874A"/>
          </a:solidFill>
          <a:ln/>
        </p:spPr>
      </p:sp>
      <p:pic>
        <p:nvPicPr>
          <p:cNvPr id="18" name="Image 2" descr="/home/claude/sms-deck/icons/l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346" y="2663190"/>
            <a:ext cx="434340" cy="4343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49056" y="34747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Display in Table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494776" y="3931920"/>
            <a:ext cx="2697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appears instantly in a searchable, filterable table on the Student List page.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after that — searching, editing, deleting, filtering — works directly on that saved table.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 SYSTEM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66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SEES WHAT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roles, one shared set of records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90956" y="196596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BF8F2"/>
          </a:solidFill>
          <a:ln w="12700">
            <a:solidFill>
              <a:srgbClr val="E4DBC8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1016" y="2308860"/>
            <a:ext cx="868680" cy="868680"/>
          </a:xfrm>
          <a:prstGeom prst="ellipse">
            <a:avLst/>
          </a:prstGeom>
          <a:solidFill>
            <a:srgbClr val="B8874A"/>
          </a:solidFill>
          <a:ln/>
        </p:spPr>
      </p:sp>
      <p:pic>
        <p:nvPicPr>
          <p:cNvPr id="6" name="Image 0" descr="/home/claude/sms-deck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8186" y="2526030"/>
            <a:ext cx="434340" cy="4343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99716" y="249631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B8874A"/>
          </a:solidFill>
          <a:ln/>
        </p:spPr>
      </p:sp>
      <p:sp>
        <p:nvSpPr>
          <p:cNvPr id="8" name="Text 5"/>
          <p:cNvSpPr/>
          <p:nvPr/>
        </p:nvSpPr>
        <p:spPr>
          <a:xfrm>
            <a:off x="2299716" y="249631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156716" y="3465576"/>
            <a:ext cx="457200" cy="457200"/>
          </a:xfrm>
          <a:prstGeom prst="ellipse">
            <a:avLst/>
          </a:prstGeom>
          <a:solidFill>
            <a:srgbClr val="B8874A"/>
          </a:solidFill>
          <a:ln/>
        </p:spPr>
      </p:sp>
      <p:pic>
        <p:nvPicPr>
          <p:cNvPr id="10" name="Image 1" descr="/home/claude/sms-deck/icons/ad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16" y="3579876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51076" y="3474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students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1156716" y="4087368"/>
            <a:ext cx="457200" cy="457200"/>
          </a:xfrm>
          <a:prstGeom prst="ellipse">
            <a:avLst/>
          </a:prstGeom>
          <a:solidFill>
            <a:srgbClr val="B8874A"/>
          </a:solidFill>
          <a:ln/>
        </p:spPr>
      </p:sp>
      <p:pic>
        <p:nvPicPr>
          <p:cNvPr id="13" name="Image 2" descr="/home/claude/sms-deck/icons/ed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16" y="4201668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51076" y="40965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any record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1156716" y="4709160"/>
            <a:ext cx="457200" cy="457200"/>
          </a:xfrm>
          <a:prstGeom prst="ellipse">
            <a:avLst/>
          </a:prstGeom>
          <a:solidFill>
            <a:srgbClr val="B8874A"/>
          </a:solidFill>
          <a:ln/>
        </p:spPr>
      </p:sp>
      <p:pic>
        <p:nvPicPr>
          <p:cNvPr id="16" name="Image 3" descr="/home/claude/sms-deck/icons/tra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016" y="4823460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751076" y="471830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records (with confirmation)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1156716" y="5330952"/>
            <a:ext cx="457200" cy="457200"/>
          </a:xfrm>
          <a:prstGeom prst="ellipse">
            <a:avLst/>
          </a:prstGeom>
          <a:solidFill>
            <a:srgbClr val="B8874A"/>
          </a:solidFill>
          <a:ln/>
        </p:spPr>
      </p:sp>
      <p:pic>
        <p:nvPicPr>
          <p:cNvPr id="19" name="Image 4" descr="/home/claude/sms-deck/icons/sta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1016" y="5445252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751076" y="534009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dashboard statistics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323076" y="196596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BF8F2"/>
          </a:solidFill>
          <a:ln w="12700">
            <a:solidFill>
              <a:srgbClr val="E4DBC8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803136" y="2308860"/>
            <a:ext cx="868680" cy="868680"/>
          </a:xfrm>
          <a:prstGeom prst="ellipse">
            <a:avLst/>
          </a:prstGeom>
          <a:solidFill>
            <a:srgbClr val="3F6B52"/>
          </a:solidFill>
          <a:ln/>
        </p:spPr>
      </p:sp>
      <p:pic>
        <p:nvPicPr>
          <p:cNvPr id="23" name="Image 5" descr="/home/claude/sms-deck/icons/boo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0306" y="2526030"/>
            <a:ext cx="434340" cy="43434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7831836" y="249631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3F6B52"/>
          </a:solidFill>
          <a:ln/>
        </p:spPr>
      </p:sp>
      <p:sp>
        <p:nvSpPr>
          <p:cNvPr id="25" name="Text 17"/>
          <p:cNvSpPr/>
          <p:nvPr/>
        </p:nvSpPr>
        <p:spPr>
          <a:xfrm>
            <a:off x="7831836" y="249631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6688836" y="3465576"/>
            <a:ext cx="457200" cy="457200"/>
          </a:xfrm>
          <a:prstGeom prst="ellipse">
            <a:avLst/>
          </a:prstGeom>
          <a:solidFill>
            <a:srgbClr val="3F6B52"/>
          </a:solidFill>
          <a:ln/>
        </p:spPr>
      </p:sp>
      <p:pic>
        <p:nvPicPr>
          <p:cNvPr id="27" name="Image 6" descr="/home/claude/sms-deck/icons/searc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3136" y="3579876"/>
            <a:ext cx="228600" cy="2286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283196" y="3474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student directory</a:t>
            </a:r>
            <a:endParaRPr lang="en-US" sz="1300" dirty="0"/>
          </a:p>
        </p:txBody>
      </p:sp>
      <p:sp>
        <p:nvSpPr>
          <p:cNvPr id="29" name="Shape 20"/>
          <p:cNvSpPr/>
          <p:nvPr/>
        </p:nvSpPr>
        <p:spPr>
          <a:xfrm>
            <a:off x="6688836" y="4087368"/>
            <a:ext cx="457200" cy="457200"/>
          </a:xfrm>
          <a:prstGeom prst="ellipse">
            <a:avLst/>
          </a:prstGeom>
          <a:solidFill>
            <a:srgbClr val="3F6B52"/>
          </a:solidFill>
          <a:ln/>
        </p:spPr>
      </p:sp>
      <p:pic>
        <p:nvPicPr>
          <p:cNvPr id="30" name="Image 7" descr="/home/claude/sms-deck/icons/filt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4201668"/>
            <a:ext cx="228600" cy="2286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283196" y="40965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course or year</a:t>
            </a:r>
            <a:endParaRPr lang="en-US" sz="1300" dirty="0"/>
          </a:p>
        </p:txBody>
      </p:sp>
      <p:sp>
        <p:nvSpPr>
          <p:cNvPr id="32" name="Shape 22"/>
          <p:cNvSpPr/>
          <p:nvPr/>
        </p:nvSpPr>
        <p:spPr>
          <a:xfrm>
            <a:off x="6688836" y="4709160"/>
            <a:ext cx="457200" cy="457200"/>
          </a:xfrm>
          <a:prstGeom prst="ellipse">
            <a:avLst/>
          </a:prstGeom>
          <a:solidFill>
            <a:srgbClr val="3F6B52"/>
          </a:solidFill>
          <a:ln/>
        </p:spPr>
      </p:sp>
      <p:pic>
        <p:nvPicPr>
          <p:cNvPr id="33" name="Image 8" descr="/home/claude/sms-deck/icons/ey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03136" y="4823460"/>
            <a:ext cx="228600" cy="22860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283196" y="471830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any student’s read-only profile</a:t>
            </a:r>
            <a:endParaRPr lang="en-US" sz="1300" dirty="0"/>
          </a:p>
        </p:txBody>
      </p:sp>
      <p:sp>
        <p:nvSpPr>
          <p:cNvPr id="35" name="Shape 24"/>
          <p:cNvSpPr/>
          <p:nvPr/>
        </p:nvSpPr>
        <p:spPr>
          <a:xfrm>
            <a:off x="6688836" y="5330952"/>
            <a:ext cx="457200" cy="457200"/>
          </a:xfrm>
          <a:prstGeom prst="ellipse">
            <a:avLst/>
          </a:prstGeom>
          <a:solidFill>
            <a:srgbClr val="3F6B52"/>
          </a:solidFill>
          <a:ln/>
        </p:spPr>
      </p:sp>
      <p:pic>
        <p:nvPicPr>
          <p:cNvPr id="36" name="Image 9" descr="/home/claude/sms-deck/icons/lo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03136" y="5445252"/>
            <a:ext cx="228600" cy="22860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7283196" y="534009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adding, editing or deleting</a:t>
            </a:r>
            <a:endParaRPr lang="en-US" sz="1300" dirty="0"/>
          </a:p>
        </p:txBody>
      </p:sp>
      <p:sp>
        <p:nvSpPr>
          <p:cNvPr id="38" name="Text 26"/>
          <p:cNvSpPr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roles read from the exact same saved records — they just see (and can do) different things with them.</a:t>
            </a:r>
            <a:endParaRPr lang="en-US" sz="1250" dirty="0"/>
          </a:p>
        </p:txBody>
      </p:sp>
      <p:sp>
        <p:nvSpPr>
          <p:cNvPr id="39" name="Text 27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 SYSTEM</a:t>
            </a:r>
            <a:endParaRPr lang="en-US" sz="900" dirty="0"/>
          </a:p>
        </p:txBody>
      </p:sp>
      <p:sp>
        <p:nvSpPr>
          <p:cNvPr id="40" name="Text 28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66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Signing in: credentials or a registered name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4434840"/>
          </a:xfrm>
          <a:prstGeom prst="roundRect">
            <a:avLst>
              <a:gd name="adj" fmla="val 1443"/>
            </a:avLst>
          </a:prstGeom>
          <a:solidFill>
            <a:srgbClr val="1B2A41"/>
          </a:solidFill>
          <a:ln w="15875">
            <a:solidFill>
              <a:srgbClr val="1B2A41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29968"/>
            <a:ext cx="128016" cy="128016"/>
          </a:xfrm>
          <a:prstGeom prst="ellipse">
            <a:avLst/>
          </a:prstGeom>
          <a:solidFill>
            <a:srgbClr val="E4A2A2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2029968"/>
            <a:ext cx="128016" cy="128016"/>
          </a:xfrm>
          <a:prstGeom prst="ellipse">
            <a:avLst/>
          </a:prstGeom>
          <a:solidFill>
            <a:srgbClr val="E9D48E"/>
          </a:solidFill>
          <a:ln/>
        </p:spPr>
      </p:sp>
      <p:sp>
        <p:nvSpPr>
          <p:cNvPr id="7" name="Shape 5"/>
          <p:cNvSpPr/>
          <p:nvPr/>
        </p:nvSpPr>
        <p:spPr>
          <a:xfrm>
            <a:off x="1289304" y="2029968"/>
            <a:ext cx="128016" cy="128016"/>
          </a:xfrm>
          <a:prstGeom prst="ellipse">
            <a:avLst/>
          </a:prstGeom>
          <a:solidFill>
            <a:srgbClr val="A9D2AE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423160"/>
            <a:ext cx="5134356" cy="3520440"/>
          </a:xfrm>
          <a:prstGeom prst="roundRect">
            <a:avLst>
              <a:gd name="adj" fmla="val 1558"/>
            </a:avLst>
          </a:prstGeom>
          <a:solidFill>
            <a:srgbClr val="22334A"/>
          </a:solidFill>
          <a:ln w="12700">
            <a:solidFill>
              <a:srgbClr val="3A4C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606040"/>
            <a:ext cx="548640" cy="548640"/>
          </a:xfrm>
          <a:prstGeom prst="ellipse">
            <a:avLst/>
          </a:prstGeom>
          <a:solidFill>
            <a:srgbClr val="B8874A"/>
          </a:solidFill>
          <a:ln/>
        </p:spPr>
      </p:sp>
      <p:pic>
        <p:nvPicPr>
          <p:cNvPr id="10" name="Image 0" descr="/home/claude/sms-deck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74320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91640" y="2679192"/>
            <a:ext cx="40370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97280" y="3383280"/>
            <a:ext cx="45857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97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1097280" y="3584448"/>
            <a:ext cx="4585716" cy="310896"/>
          </a:xfrm>
          <a:prstGeom prst="roundRect">
            <a:avLst>
              <a:gd name="adj" fmla="val 11765"/>
            </a:avLst>
          </a:prstGeom>
          <a:solidFill>
            <a:srgbClr val="1B2A41"/>
          </a:solidFill>
          <a:ln w="12700">
            <a:solidFill>
              <a:srgbClr val="3A4C6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07008" y="3584448"/>
            <a:ext cx="43662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97280" y="3950208"/>
            <a:ext cx="45857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97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1097280" y="4151376"/>
            <a:ext cx="4585716" cy="310896"/>
          </a:xfrm>
          <a:prstGeom prst="roundRect">
            <a:avLst>
              <a:gd name="adj" fmla="val 11765"/>
            </a:avLst>
          </a:prstGeom>
          <a:solidFill>
            <a:srgbClr val="1B2A41"/>
          </a:solidFill>
          <a:ln w="12700">
            <a:solidFill>
              <a:srgbClr val="3A4C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07008" y="4151376"/>
            <a:ext cx="43662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•••••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97280" y="4645152"/>
            <a:ext cx="4585716" cy="365760"/>
          </a:xfrm>
          <a:prstGeom prst="roundRect">
            <a:avLst>
              <a:gd name="adj" fmla="val 12500"/>
            </a:avLst>
          </a:prstGeom>
          <a:solidFill>
            <a:srgbClr val="B8874A"/>
          </a:solidFill>
          <a:ln/>
        </p:spPr>
      </p:sp>
      <p:sp>
        <p:nvSpPr>
          <p:cNvPr id="19" name="Text 16"/>
          <p:cNvSpPr/>
          <p:nvPr/>
        </p:nvSpPr>
        <p:spPr>
          <a:xfrm>
            <a:off x="1097280" y="4645152"/>
            <a:ext cx="45857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Admin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097280" y="5102352"/>
            <a:ext cx="45857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credentials: admin / admin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231636" y="2423160"/>
            <a:ext cx="5134356" cy="3520440"/>
          </a:xfrm>
          <a:prstGeom prst="roundRect">
            <a:avLst>
              <a:gd name="adj" fmla="val 1558"/>
            </a:avLst>
          </a:prstGeom>
          <a:solidFill>
            <a:srgbClr val="22334A"/>
          </a:solidFill>
          <a:ln w="12700">
            <a:solidFill>
              <a:srgbClr val="3A4C6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60236" y="2606040"/>
            <a:ext cx="548640" cy="548640"/>
          </a:xfrm>
          <a:prstGeom prst="ellipse">
            <a:avLst/>
          </a:prstGeom>
          <a:solidFill>
            <a:srgbClr val="3F6B52"/>
          </a:solidFill>
          <a:ln/>
        </p:spPr>
      </p:sp>
      <p:pic>
        <p:nvPicPr>
          <p:cNvPr id="23" name="Image 1" descr="/home/claude/sms-deck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6" y="2743200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100316" y="2679192"/>
            <a:ext cx="40370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505956" y="3383280"/>
            <a:ext cx="45857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97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REGISTERED NAME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6505956" y="3584448"/>
            <a:ext cx="4585716" cy="310896"/>
          </a:xfrm>
          <a:prstGeom prst="roundRect">
            <a:avLst>
              <a:gd name="adj" fmla="val 11765"/>
            </a:avLst>
          </a:prstGeom>
          <a:solidFill>
            <a:srgbClr val="1B2A41"/>
          </a:solidFill>
          <a:ln w="12700">
            <a:solidFill>
              <a:srgbClr val="3A4C6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615684" y="3584448"/>
            <a:ext cx="43662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Amara Uwase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505956" y="4114800"/>
            <a:ext cx="4585716" cy="365760"/>
          </a:xfrm>
          <a:prstGeom prst="roundRect">
            <a:avLst>
              <a:gd name="adj" fmla="val 12500"/>
            </a:avLst>
          </a:prstGeom>
          <a:ln w="15875">
            <a:solidFill>
              <a:srgbClr val="D8DEE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505956" y="4114800"/>
            <a:ext cx="45857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as Student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6505956" y="4572000"/>
            <a:ext cx="45857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match a name already in the student records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 SYSTEM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66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ADMIN 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pages, one connected system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1783080"/>
          </a:xfrm>
          <a:prstGeom prst="roundRect">
            <a:avLst>
              <a:gd name="adj" fmla="val 3590"/>
            </a:avLst>
          </a:prstGeom>
          <a:solidFill>
            <a:srgbClr val="FBF8F2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491740"/>
            <a:ext cx="731520" cy="731520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6" name="Image 0" descr="/home/claude/sms-deck/icons/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6746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221992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74520" y="2624328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Totals, gender split, course breakdown and the most recent registrations at a glance.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965960"/>
            <a:ext cx="5349240" cy="1783080"/>
          </a:xfrm>
          <a:prstGeom prst="roundRect">
            <a:avLst>
              <a:gd name="adj" fmla="val 3590"/>
            </a:avLst>
          </a:prstGeom>
          <a:solidFill>
            <a:srgbClr val="FBF8F2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0" y="2491740"/>
            <a:ext cx="731520" cy="731520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11" name="Image 1" descr="/home/claude/sms-deck/icons/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6746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2221992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List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589520" y="2624328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name/email/course, filter by course, gender or year, edit or delete any row.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349240" cy="1783080"/>
          </a:xfrm>
          <a:prstGeom prst="roundRect">
            <a:avLst>
              <a:gd name="adj" fmla="val 3590"/>
            </a:avLst>
          </a:prstGeom>
          <a:solidFill>
            <a:srgbClr val="FBF8F2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60120" y="4549140"/>
            <a:ext cx="731520" cy="731520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16" name="Image 2" descr="/home/claude/sms-deck/icons/ad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7320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279392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Student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74520" y="4681728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form for entering new students — the same form is reused for editing.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4023360"/>
            <a:ext cx="5349240" cy="1783080"/>
          </a:xfrm>
          <a:prstGeom prst="roundRect">
            <a:avLst>
              <a:gd name="adj" fmla="val 3590"/>
            </a:avLst>
          </a:prstGeom>
          <a:solidFill>
            <a:srgbClr val="FBF8F2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75120" y="4549140"/>
            <a:ext cx="731520" cy="731520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21" name="Image 3" descr="/home/claude/sms-deck/icons/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7320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9520" y="4279392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Details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589520" y="4681728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single-record view showing everything on file for one student.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 SYSTEM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66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Dashboard, at a glance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1672" cy="4343400"/>
          </a:xfrm>
          <a:prstGeom prst="roundRect">
            <a:avLst>
              <a:gd name="adj" fmla="val 1474"/>
            </a:avLst>
          </a:prstGeom>
          <a:solidFill>
            <a:srgbClr val="FBF8F2"/>
          </a:solidFill>
          <a:ln w="15875">
            <a:solidFill>
              <a:srgbClr val="E4DBC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75688"/>
            <a:ext cx="128016" cy="128016"/>
          </a:xfrm>
          <a:prstGeom prst="ellipse">
            <a:avLst/>
          </a:prstGeom>
          <a:solidFill>
            <a:srgbClr val="E4A2A2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2075688"/>
            <a:ext cx="128016" cy="128016"/>
          </a:xfrm>
          <a:prstGeom prst="ellipse">
            <a:avLst/>
          </a:prstGeom>
          <a:solidFill>
            <a:srgbClr val="E9D48E"/>
          </a:solidFill>
          <a:ln/>
        </p:spPr>
      </p:sp>
      <p:sp>
        <p:nvSpPr>
          <p:cNvPr id="7" name="Shape 5"/>
          <p:cNvSpPr/>
          <p:nvPr/>
        </p:nvSpPr>
        <p:spPr>
          <a:xfrm>
            <a:off x="1289304" y="2075688"/>
            <a:ext cx="128016" cy="128016"/>
          </a:xfrm>
          <a:prstGeom prst="ellipse">
            <a:avLst/>
          </a:prstGeom>
          <a:solidFill>
            <a:srgbClr val="A9D2AE"/>
          </a:solidFill>
          <a:ln/>
        </p:spPr>
      </p:sp>
      <p:sp>
        <p:nvSpPr>
          <p:cNvPr id="8" name="Shape 6"/>
          <p:cNvSpPr/>
          <p:nvPr/>
        </p:nvSpPr>
        <p:spPr>
          <a:xfrm>
            <a:off x="882396" y="2377440"/>
            <a:ext cx="24688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9556" y="2468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8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019556" y="3063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STUDENTS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34156" y="2377440"/>
            <a:ext cx="24688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1316" y="2468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5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71316" y="3063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STUDENTS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85916" y="2377440"/>
            <a:ext cx="24688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3076" y="2468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4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323076" y="3063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STUDENTS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837676" y="2377440"/>
            <a:ext cx="24688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74836" y="2468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6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974836" y="3063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22960" y="3703320"/>
            <a:ext cx="5157216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813048"/>
            <a:ext cx="4791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by Course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05840" y="42062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68880" y="4279392"/>
            <a:ext cx="3282696" cy="109728"/>
          </a:xfrm>
          <a:prstGeom prst="roundRect">
            <a:avLst>
              <a:gd name="adj" fmla="val 50000"/>
            </a:avLst>
          </a:prstGeom>
          <a:solidFill>
            <a:srgbClr val="E4DBC8"/>
          </a:solidFill>
          <a:ln/>
        </p:spPr>
      </p:sp>
      <p:sp>
        <p:nvSpPr>
          <p:cNvPr id="24" name="Shape 22"/>
          <p:cNvSpPr/>
          <p:nvPr/>
        </p:nvSpPr>
        <p:spPr>
          <a:xfrm>
            <a:off x="2468880" y="4279392"/>
            <a:ext cx="2790292" cy="109728"/>
          </a:xfrm>
          <a:prstGeom prst="roundRect">
            <a:avLst>
              <a:gd name="adj" fmla="val 50000"/>
            </a:avLst>
          </a:prstGeom>
          <a:solidFill>
            <a:srgbClr val="B8874A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459028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468880" y="4663440"/>
            <a:ext cx="3282696" cy="109728"/>
          </a:xfrm>
          <a:prstGeom prst="roundRect">
            <a:avLst>
              <a:gd name="adj" fmla="val 50000"/>
            </a:avLst>
          </a:prstGeom>
          <a:solidFill>
            <a:srgbClr val="E4DBC8"/>
          </a:solidFill>
          <a:ln/>
        </p:spPr>
      </p:sp>
      <p:sp>
        <p:nvSpPr>
          <p:cNvPr id="27" name="Shape 25"/>
          <p:cNvSpPr/>
          <p:nvPr/>
        </p:nvSpPr>
        <p:spPr>
          <a:xfrm>
            <a:off x="2468880" y="4663440"/>
            <a:ext cx="1805483" cy="109728"/>
          </a:xfrm>
          <a:prstGeom prst="roundRect">
            <a:avLst>
              <a:gd name="adj" fmla="val 50000"/>
            </a:avLst>
          </a:prstGeom>
          <a:solidFill>
            <a:srgbClr val="B8874A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497433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468880" y="5047488"/>
            <a:ext cx="3282696" cy="109728"/>
          </a:xfrm>
          <a:prstGeom prst="roundRect">
            <a:avLst>
              <a:gd name="adj" fmla="val 50000"/>
            </a:avLst>
          </a:prstGeom>
          <a:solidFill>
            <a:srgbClr val="E4DBC8"/>
          </a:solidFill>
          <a:ln/>
        </p:spPr>
      </p:sp>
      <p:sp>
        <p:nvSpPr>
          <p:cNvPr id="30" name="Shape 28"/>
          <p:cNvSpPr/>
          <p:nvPr/>
        </p:nvSpPr>
        <p:spPr>
          <a:xfrm>
            <a:off x="2468880" y="5047488"/>
            <a:ext cx="2297887" cy="109728"/>
          </a:xfrm>
          <a:prstGeom prst="roundRect">
            <a:avLst>
              <a:gd name="adj" fmla="val 50000"/>
            </a:avLst>
          </a:prstGeom>
          <a:solidFill>
            <a:srgbClr val="B8874A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535838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Systems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468880" y="5431536"/>
            <a:ext cx="3282696" cy="109728"/>
          </a:xfrm>
          <a:prstGeom prst="roundRect">
            <a:avLst>
              <a:gd name="adj" fmla="val 50000"/>
            </a:avLst>
          </a:prstGeom>
          <a:solidFill>
            <a:srgbClr val="E4DBC8"/>
          </a:solidFill>
          <a:ln/>
        </p:spPr>
      </p:sp>
      <p:sp>
        <p:nvSpPr>
          <p:cNvPr id="33" name="Shape 31"/>
          <p:cNvSpPr/>
          <p:nvPr/>
        </p:nvSpPr>
        <p:spPr>
          <a:xfrm>
            <a:off x="2468880" y="5431536"/>
            <a:ext cx="1313078" cy="109728"/>
          </a:xfrm>
          <a:prstGeom prst="roundRect">
            <a:avLst>
              <a:gd name="adj" fmla="val 50000"/>
            </a:avLst>
          </a:prstGeom>
          <a:solidFill>
            <a:srgbClr val="B8874A"/>
          </a:solidFill>
          <a:ln/>
        </p:spPr>
      </p:sp>
      <p:sp>
        <p:nvSpPr>
          <p:cNvPr id="34" name="Shape 32"/>
          <p:cNvSpPr/>
          <p:nvPr/>
        </p:nvSpPr>
        <p:spPr>
          <a:xfrm>
            <a:off x="6208776" y="3703320"/>
            <a:ext cx="5157216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91656" y="3813048"/>
            <a:ext cx="4791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Recently Registered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391656" y="4206240"/>
            <a:ext cx="310896" cy="310896"/>
          </a:xfrm>
          <a:prstGeom prst="ellipse">
            <a:avLst/>
          </a:prstGeom>
          <a:solidFill>
            <a:srgbClr val="3F6B52"/>
          </a:solidFill>
          <a:ln/>
        </p:spPr>
      </p:sp>
      <p:sp>
        <p:nvSpPr>
          <p:cNvPr id="37" name="Text 35"/>
          <p:cNvSpPr/>
          <p:nvPr/>
        </p:nvSpPr>
        <p:spPr>
          <a:xfrm>
            <a:off x="6391656" y="4206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03136" y="4178808"/>
            <a:ext cx="43342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Amara Uwase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03136" y="4370832"/>
            <a:ext cx="4334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· Year 2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391656" y="4663440"/>
            <a:ext cx="310896" cy="310896"/>
          </a:xfrm>
          <a:prstGeom prst="ellipse">
            <a:avLst/>
          </a:prstGeom>
          <a:solidFill>
            <a:srgbClr val="3F6B52"/>
          </a:solidFill>
          <a:ln/>
        </p:spPr>
      </p:sp>
      <p:sp>
        <p:nvSpPr>
          <p:cNvPr id="41" name="Text 39"/>
          <p:cNvSpPr/>
          <p:nvPr/>
        </p:nvSpPr>
        <p:spPr>
          <a:xfrm>
            <a:off x="6391656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JP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03136" y="4636008"/>
            <a:ext cx="43342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Paul Habimana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03136" y="4828032"/>
            <a:ext cx="4334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IT · Year 1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391656" y="5120640"/>
            <a:ext cx="310896" cy="310896"/>
          </a:xfrm>
          <a:prstGeom prst="ellipse">
            <a:avLst/>
          </a:prstGeom>
          <a:solidFill>
            <a:srgbClr val="3F6B52"/>
          </a:solidFill>
          <a:ln/>
        </p:spPr>
      </p:sp>
      <p:sp>
        <p:nvSpPr>
          <p:cNvPr id="45" name="Text 43"/>
          <p:cNvSpPr/>
          <p:nvPr/>
        </p:nvSpPr>
        <p:spPr>
          <a:xfrm>
            <a:off x="6391656" y="5120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03136" y="5093208"/>
            <a:ext cx="43342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Mukamana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803136" y="5285232"/>
            <a:ext cx="4334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Eng. · Year 3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 SYSTEM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66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Student List, searchable and filterable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1672" cy="4343400"/>
          </a:xfrm>
          <a:prstGeom prst="roundRect">
            <a:avLst>
              <a:gd name="adj" fmla="val 1474"/>
            </a:avLst>
          </a:prstGeom>
          <a:solidFill>
            <a:srgbClr val="FBF8F2"/>
          </a:solidFill>
          <a:ln w="15875">
            <a:solidFill>
              <a:srgbClr val="E4DBC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75688"/>
            <a:ext cx="128016" cy="128016"/>
          </a:xfrm>
          <a:prstGeom prst="ellipse">
            <a:avLst/>
          </a:prstGeom>
          <a:solidFill>
            <a:srgbClr val="E4A2A2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2075688"/>
            <a:ext cx="128016" cy="128016"/>
          </a:xfrm>
          <a:prstGeom prst="ellipse">
            <a:avLst/>
          </a:prstGeom>
          <a:solidFill>
            <a:srgbClr val="E9D48E"/>
          </a:solidFill>
          <a:ln/>
        </p:spPr>
      </p:sp>
      <p:sp>
        <p:nvSpPr>
          <p:cNvPr id="7" name="Shape 5"/>
          <p:cNvSpPr/>
          <p:nvPr/>
        </p:nvSpPr>
        <p:spPr>
          <a:xfrm>
            <a:off x="1289304" y="2075688"/>
            <a:ext cx="128016" cy="128016"/>
          </a:xfrm>
          <a:prstGeom prst="ellipse">
            <a:avLst/>
          </a:prstGeom>
          <a:solidFill>
            <a:srgbClr val="A9D2AE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331720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2395728"/>
            <a:ext cx="256032" cy="256032"/>
          </a:xfrm>
          <a:prstGeom prst="ellipse">
            <a:avLst/>
          </a:prstGeom>
          <a:solidFill>
            <a:srgbClr val="B8874A"/>
          </a:solidFill>
          <a:ln/>
        </p:spPr>
      </p:sp>
      <p:pic>
        <p:nvPicPr>
          <p:cNvPr id="10" name="Image 0" descr="/home/claude/sms-deck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459736"/>
            <a:ext cx="128016" cy="12801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23774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name, email or course…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800600" y="2331720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10328" y="23774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72200" y="2331720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81928" y="23774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406640" y="2331720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16368" y="23774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628632" y="23317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28632" y="23774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students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22960" y="2898648"/>
            <a:ext cx="10543032" cy="3044952"/>
          </a:xfrm>
          <a:prstGeom prst="roundRect">
            <a:avLst>
              <a:gd name="adj" fmla="val 1502"/>
            </a:avLst>
          </a:prstGeom>
          <a:solidFill>
            <a:srgbClr val="FFFFFF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3008376"/>
            <a:ext cx="316291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168750" y="3008376"/>
            <a:ext cx="2530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699077" y="3008376"/>
            <a:ext cx="137059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069671" y="3008376"/>
            <a:ext cx="15814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9651126" y="3008376"/>
            <a:ext cx="189774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22960" y="3282696"/>
            <a:ext cx="10543032" cy="0"/>
          </a:xfrm>
          <a:prstGeom prst="line">
            <a:avLst/>
          </a:prstGeom>
          <a:noFill/>
          <a:ln w="9525">
            <a:solidFill>
              <a:srgbClr val="E4DB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05840" y="3374136"/>
            <a:ext cx="292608" cy="29260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8" name="Text 25"/>
          <p:cNvSpPr/>
          <p:nvPr/>
        </p:nvSpPr>
        <p:spPr>
          <a:xfrm>
            <a:off x="1005840" y="33741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389888" y="3392424"/>
            <a:ext cx="27971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Amara Uwase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168750" y="3429000"/>
            <a:ext cx="2438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699077" y="3429000"/>
            <a:ext cx="13705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8069671" y="3392424"/>
            <a:ext cx="777240" cy="237744"/>
          </a:xfrm>
          <a:prstGeom prst="roundRect">
            <a:avLst>
              <a:gd name="adj" fmla="val 50000"/>
            </a:avLst>
          </a:prstGeom>
          <a:solidFill>
            <a:srgbClr val="F5E7E6"/>
          </a:solidFill>
          <a:ln/>
        </p:spPr>
      </p:sp>
      <p:sp>
        <p:nvSpPr>
          <p:cNvPr id="33" name="Text 30"/>
          <p:cNvSpPr/>
          <p:nvPr/>
        </p:nvSpPr>
        <p:spPr>
          <a:xfrm>
            <a:off x="8069671" y="3392424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532254" y="3401568"/>
            <a:ext cx="237744" cy="237744"/>
          </a:xfrm>
          <a:prstGeom prst="ellipse">
            <a:avLst/>
          </a:prstGeom>
          <a:solidFill>
            <a:srgbClr val="33455F"/>
          </a:solidFill>
          <a:ln/>
        </p:spPr>
      </p:sp>
      <p:pic>
        <p:nvPicPr>
          <p:cNvPr id="35" name="Image 1" descr="/home/claude/sms-deck/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1690" y="3461004"/>
            <a:ext cx="118872" cy="118872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9843150" y="3401568"/>
            <a:ext cx="237744" cy="237744"/>
          </a:xfrm>
          <a:prstGeom prst="ellipse">
            <a:avLst/>
          </a:prstGeom>
          <a:solidFill>
            <a:srgbClr val="33455F"/>
          </a:solidFill>
          <a:ln/>
        </p:spPr>
      </p:sp>
      <p:pic>
        <p:nvPicPr>
          <p:cNvPr id="37" name="Image 2" descr="/home/claude/sms-deck/icons/ed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586" y="3461004"/>
            <a:ext cx="118872" cy="118872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10154046" y="3401568"/>
            <a:ext cx="237744" cy="237744"/>
          </a:xfrm>
          <a:prstGeom prst="ellipse">
            <a:avLst/>
          </a:prstGeom>
          <a:solidFill>
            <a:srgbClr val="A8434A"/>
          </a:solidFill>
          <a:ln/>
        </p:spPr>
      </p:sp>
      <p:pic>
        <p:nvPicPr>
          <p:cNvPr id="39" name="Image 3" descr="/home/claude/sms-deck/icons/tra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3482" y="3461004"/>
            <a:ext cx="118872" cy="118872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822960" y="3849624"/>
            <a:ext cx="10543032" cy="0"/>
          </a:xfrm>
          <a:prstGeom prst="line">
            <a:avLst/>
          </a:prstGeom>
          <a:noFill/>
          <a:ln w="9525">
            <a:solidFill>
              <a:srgbClr val="E4DBC8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1005840" y="3941064"/>
            <a:ext cx="292608" cy="29260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2" name="Text 36"/>
          <p:cNvSpPr/>
          <p:nvPr/>
        </p:nvSpPr>
        <p:spPr>
          <a:xfrm>
            <a:off x="1005840" y="39410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JP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1389888" y="3959352"/>
            <a:ext cx="27971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Paul Habimana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4168750" y="3995928"/>
            <a:ext cx="2438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IT</a:t>
            </a:r>
            <a:endParaRPr lang="en-US" sz="950" dirty="0"/>
          </a:p>
        </p:txBody>
      </p:sp>
      <p:sp>
        <p:nvSpPr>
          <p:cNvPr id="45" name="Text 39"/>
          <p:cNvSpPr/>
          <p:nvPr/>
        </p:nvSpPr>
        <p:spPr>
          <a:xfrm>
            <a:off x="6699077" y="3995928"/>
            <a:ext cx="13705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50" dirty="0"/>
          </a:p>
        </p:txBody>
      </p:sp>
      <p:sp>
        <p:nvSpPr>
          <p:cNvPr id="46" name="Shape 40"/>
          <p:cNvSpPr/>
          <p:nvPr/>
        </p:nvSpPr>
        <p:spPr>
          <a:xfrm>
            <a:off x="8069671" y="3959352"/>
            <a:ext cx="777240" cy="237744"/>
          </a:xfrm>
          <a:prstGeom prst="roundRect">
            <a:avLst>
              <a:gd name="adj" fmla="val 50000"/>
            </a:avLst>
          </a:prstGeom>
          <a:solidFill>
            <a:srgbClr val="E9EEF5"/>
          </a:solidFill>
          <a:ln/>
        </p:spPr>
      </p:sp>
      <p:sp>
        <p:nvSpPr>
          <p:cNvPr id="47" name="Text 41"/>
          <p:cNvSpPr/>
          <p:nvPr/>
        </p:nvSpPr>
        <p:spPr>
          <a:xfrm>
            <a:off x="8069671" y="395935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800" dirty="0"/>
          </a:p>
        </p:txBody>
      </p:sp>
      <p:sp>
        <p:nvSpPr>
          <p:cNvPr id="48" name="Shape 42"/>
          <p:cNvSpPr/>
          <p:nvPr/>
        </p:nvSpPr>
        <p:spPr>
          <a:xfrm>
            <a:off x="9532254" y="3968496"/>
            <a:ext cx="237744" cy="237744"/>
          </a:xfrm>
          <a:prstGeom prst="ellipse">
            <a:avLst/>
          </a:prstGeom>
          <a:solidFill>
            <a:srgbClr val="33455F"/>
          </a:solidFill>
          <a:ln/>
        </p:spPr>
      </p:sp>
      <p:pic>
        <p:nvPicPr>
          <p:cNvPr id="49" name="Image 4" descr="/home/claude/sms-deck/icons/ey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1690" y="4027932"/>
            <a:ext cx="118872" cy="118872"/>
          </a:xfrm>
          <a:prstGeom prst="rect">
            <a:avLst/>
          </a:prstGeom>
        </p:spPr>
      </p:pic>
      <p:sp>
        <p:nvSpPr>
          <p:cNvPr id="50" name="Shape 43"/>
          <p:cNvSpPr/>
          <p:nvPr/>
        </p:nvSpPr>
        <p:spPr>
          <a:xfrm>
            <a:off x="9843150" y="3968496"/>
            <a:ext cx="237744" cy="237744"/>
          </a:xfrm>
          <a:prstGeom prst="ellipse">
            <a:avLst/>
          </a:prstGeom>
          <a:solidFill>
            <a:srgbClr val="33455F"/>
          </a:solidFill>
          <a:ln/>
        </p:spPr>
      </p:sp>
      <p:pic>
        <p:nvPicPr>
          <p:cNvPr id="51" name="Image 5" descr="/home/claude/sms-deck/icons/edi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2586" y="4027932"/>
            <a:ext cx="118872" cy="118872"/>
          </a:xfrm>
          <a:prstGeom prst="rect">
            <a:avLst/>
          </a:prstGeom>
        </p:spPr>
      </p:pic>
      <p:sp>
        <p:nvSpPr>
          <p:cNvPr id="52" name="Shape 44"/>
          <p:cNvSpPr/>
          <p:nvPr/>
        </p:nvSpPr>
        <p:spPr>
          <a:xfrm>
            <a:off x="10154046" y="3968496"/>
            <a:ext cx="237744" cy="237744"/>
          </a:xfrm>
          <a:prstGeom prst="ellipse">
            <a:avLst/>
          </a:prstGeom>
          <a:solidFill>
            <a:srgbClr val="A8434A"/>
          </a:solidFill>
          <a:ln/>
        </p:spPr>
      </p:sp>
      <p:pic>
        <p:nvPicPr>
          <p:cNvPr id="53" name="Image 6" descr="/home/claude/sms-deck/icons/tras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3482" y="4027932"/>
            <a:ext cx="118872" cy="118872"/>
          </a:xfrm>
          <a:prstGeom prst="rect">
            <a:avLst/>
          </a:prstGeom>
        </p:spPr>
      </p:pic>
      <p:sp>
        <p:nvSpPr>
          <p:cNvPr id="54" name="Shape 45"/>
          <p:cNvSpPr/>
          <p:nvPr/>
        </p:nvSpPr>
        <p:spPr>
          <a:xfrm>
            <a:off x="822960" y="4416552"/>
            <a:ext cx="10543032" cy="0"/>
          </a:xfrm>
          <a:prstGeom prst="line">
            <a:avLst/>
          </a:prstGeom>
          <a:noFill/>
          <a:ln w="9525">
            <a:solidFill>
              <a:srgbClr val="E4DBC8"/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1005840" y="4507992"/>
            <a:ext cx="292608" cy="29260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56" name="Text 47"/>
          <p:cNvSpPr/>
          <p:nvPr/>
        </p:nvSpPr>
        <p:spPr>
          <a:xfrm>
            <a:off x="1005840" y="45079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</a:t>
            </a:r>
            <a:endParaRPr lang="en-US" sz="800" dirty="0"/>
          </a:p>
        </p:txBody>
      </p:sp>
      <p:sp>
        <p:nvSpPr>
          <p:cNvPr id="57" name="Text 48"/>
          <p:cNvSpPr/>
          <p:nvPr/>
        </p:nvSpPr>
        <p:spPr>
          <a:xfrm>
            <a:off x="1389888" y="4526280"/>
            <a:ext cx="27971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Mukamana</a:t>
            </a:r>
            <a:endParaRPr lang="en-US" sz="1000" dirty="0"/>
          </a:p>
        </p:txBody>
      </p:sp>
      <p:sp>
        <p:nvSpPr>
          <p:cNvPr id="58" name="Text 49"/>
          <p:cNvSpPr/>
          <p:nvPr/>
        </p:nvSpPr>
        <p:spPr>
          <a:xfrm>
            <a:off x="4168750" y="4562856"/>
            <a:ext cx="2438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Eng.</a:t>
            </a:r>
            <a:endParaRPr lang="en-US" sz="950" dirty="0"/>
          </a:p>
        </p:txBody>
      </p:sp>
      <p:sp>
        <p:nvSpPr>
          <p:cNvPr id="59" name="Text 50"/>
          <p:cNvSpPr/>
          <p:nvPr/>
        </p:nvSpPr>
        <p:spPr>
          <a:xfrm>
            <a:off x="6699077" y="4562856"/>
            <a:ext cx="13705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950" dirty="0"/>
          </a:p>
        </p:txBody>
      </p:sp>
      <p:sp>
        <p:nvSpPr>
          <p:cNvPr id="60" name="Shape 51"/>
          <p:cNvSpPr/>
          <p:nvPr/>
        </p:nvSpPr>
        <p:spPr>
          <a:xfrm>
            <a:off x="8069671" y="4526280"/>
            <a:ext cx="777240" cy="237744"/>
          </a:xfrm>
          <a:prstGeom prst="roundRect">
            <a:avLst>
              <a:gd name="adj" fmla="val 50000"/>
            </a:avLst>
          </a:prstGeom>
          <a:solidFill>
            <a:srgbClr val="F5E7E6"/>
          </a:solidFill>
          <a:ln/>
        </p:spPr>
      </p:sp>
      <p:sp>
        <p:nvSpPr>
          <p:cNvPr id="61" name="Text 52"/>
          <p:cNvSpPr/>
          <p:nvPr/>
        </p:nvSpPr>
        <p:spPr>
          <a:xfrm>
            <a:off x="8069671" y="4526280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800" dirty="0"/>
          </a:p>
        </p:txBody>
      </p:sp>
      <p:sp>
        <p:nvSpPr>
          <p:cNvPr id="62" name="Shape 53"/>
          <p:cNvSpPr/>
          <p:nvPr/>
        </p:nvSpPr>
        <p:spPr>
          <a:xfrm>
            <a:off x="9532254" y="4535424"/>
            <a:ext cx="237744" cy="237744"/>
          </a:xfrm>
          <a:prstGeom prst="ellipse">
            <a:avLst/>
          </a:prstGeom>
          <a:solidFill>
            <a:srgbClr val="33455F"/>
          </a:solidFill>
          <a:ln/>
        </p:spPr>
      </p:sp>
      <p:pic>
        <p:nvPicPr>
          <p:cNvPr id="63" name="Image 7" descr="/home/claude/sms-deck/icons/ey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91690" y="4594860"/>
            <a:ext cx="118872" cy="118872"/>
          </a:xfrm>
          <a:prstGeom prst="rect">
            <a:avLst/>
          </a:prstGeom>
        </p:spPr>
      </p:pic>
      <p:sp>
        <p:nvSpPr>
          <p:cNvPr id="64" name="Shape 54"/>
          <p:cNvSpPr/>
          <p:nvPr/>
        </p:nvSpPr>
        <p:spPr>
          <a:xfrm>
            <a:off x="9843150" y="4535424"/>
            <a:ext cx="237744" cy="237744"/>
          </a:xfrm>
          <a:prstGeom prst="ellipse">
            <a:avLst/>
          </a:prstGeom>
          <a:solidFill>
            <a:srgbClr val="33455F"/>
          </a:solidFill>
          <a:ln/>
        </p:spPr>
      </p:sp>
      <p:pic>
        <p:nvPicPr>
          <p:cNvPr id="65" name="Image 8" descr="/home/claude/sms-deck/icons/edi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2586" y="4594860"/>
            <a:ext cx="118872" cy="118872"/>
          </a:xfrm>
          <a:prstGeom prst="rect">
            <a:avLst/>
          </a:prstGeom>
        </p:spPr>
      </p:pic>
      <p:sp>
        <p:nvSpPr>
          <p:cNvPr id="66" name="Shape 55"/>
          <p:cNvSpPr/>
          <p:nvPr/>
        </p:nvSpPr>
        <p:spPr>
          <a:xfrm>
            <a:off x="10154046" y="4535424"/>
            <a:ext cx="237744" cy="237744"/>
          </a:xfrm>
          <a:prstGeom prst="ellipse">
            <a:avLst/>
          </a:prstGeom>
          <a:solidFill>
            <a:srgbClr val="A8434A"/>
          </a:solidFill>
          <a:ln/>
        </p:spPr>
      </p:sp>
      <p:pic>
        <p:nvPicPr>
          <p:cNvPr id="67" name="Image 9" descr="/home/claude/sms-deck/icons/trash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13482" y="4594860"/>
            <a:ext cx="118872" cy="118872"/>
          </a:xfrm>
          <a:prstGeom prst="rect">
            <a:avLst/>
          </a:prstGeom>
        </p:spPr>
      </p:pic>
      <p:sp>
        <p:nvSpPr>
          <p:cNvPr id="68" name="Shape 56"/>
          <p:cNvSpPr/>
          <p:nvPr/>
        </p:nvSpPr>
        <p:spPr>
          <a:xfrm>
            <a:off x="822960" y="4983480"/>
            <a:ext cx="10543032" cy="0"/>
          </a:xfrm>
          <a:prstGeom prst="line">
            <a:avLst/>
          </a:prstGeom>
          <a:noFill/>
          <a:ln w="9525">
            <a:solidFill>
              <a:srgbClr val="E4DBC8"/>
            </a:solidFill>
            <a:prstDash val="solid"/>
          </a:ln>
        </p:spPr>
      </p:sp>
      <p:sp>
        <p:nvSpPr>
          <p:cNvPr id="69" name="Shape 57"/>
          <p:cNvSpPr/>
          <p:nvPr/>
        </p:nvSpPr>
        <p:spPr>
          <a:xfrm>
            <a:off x="1005840" y="5074920"/>
            <a:ext cx="292608" cy="29260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70" name="Text 58"/>
          <p:cNvSpPr/>
          <p:nvPr/>
        </p:nvSpPr>
        <p:spPr>
          <a:xfrm>
            <a:off x="1005840" y="5074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</a:t>
            </a:r>
            <a:endParaRPr lang="en-US" sz="800" dirty="0"/>
          </a:p>
        </p:txBody>
      </p:sp>
      <p:sp>
        <p:nvSpPr>
          <p:cNvPr id="71" name="Text 59"/>
          <p:cNvSpPr/>
          <p:nvPr/>
        </p:nvSpPr>
        <p:spPr>
          <a:xfrm>
            <a:off x="1389888" y="5093208"/>
            <a:ext cx="27971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 Niyonsenga</a:t>
            </a:r>
            <a:endParaRPr lang="en-US" sz="1000" dirty="0"/>
          </a:p>
        </p:txBody>
      </p:sp>
      <p:sp>
        <p:nvSpPr>
          <p:cNvPr id="72" name="Text 60"/>
          <p:cNvSpPr/>
          <p:nvPr/>
        </p:nvSpPr>
        <p:spPr>
          <a:xfrm>
            <a:off x="4168750" y="5129784"/>
            <a:ext cx="2438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950" dirty="0"/>
          </a:p>
        </p:txBody>
      </p:sp>
      <p:sp>
        <p:nvSpPr>
          <p:cNvPr id="73" name="Text 61"/>
          <p:cNvSpPr/>
          <p:nvPr/>
        </p:nvSpPr>
        <p:spPr>
          <a:xfrm>
            <a:off x="6699077" y="5129784"/>
            <a:ext cx="13705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50" dirty="0"/>
          </a:p>
        </p:txBody>
      </p:sp>
      <p:sp>
        <p:nvSpPr>
          <p:cNvPr id="74" name="Shape 62"/>
          <p:cNvSpPr/>
          <p:nvPr/>
        </p:nvSpPr>
        <p:spPr>
          <a:xfrm>
            <a:off x="8069671" y="5093208"/>
            <a:ext cx="777240" cy="237744"/>
          </a:xfrm>
          <a:prstGeom prst="roundRect">
            <a:avLst>
              <a:gd name="adj" fmla="val 50000"/>
            </a:avLst>
          </a:prstGeom>
          <a:solidFill>
            <a:srgbClr val="E9EEF5"/>
          </a:solidFill>
          <a:ln/>
        </p:spPr>
      </p:sp>
      <p:sp>
        <p:nvSpPr>
          <p:cNvPr id="75" name="Text 63"/>
          <p:cNvSpPr/>
          <p:nvPr/>
        </p:nvSpPr>
        <p:spPr>
          <a:xfrm>
            <a:off x="8069671" y="509320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800" dirty="0"/>
          </a:p>
        </p:txBody>
      </p:sp>
      <p:sp>
        <p:nvSpPr>
          <p:cNvPr id="76" name="Shape 64"/>
          <p:cNvSpPr/>
          <p:nvPr/>
        </p:nvSpPr>
        <p:spPr>
          <a:xfrm>
            <a:off x="9532254" y="5102352"/>
            <a:ext cx="237744" cy="237744"/>
          </a:xfrm>
          <a:prstGeom prst="ellipse">
            <a:avLst/>
          </a:prstGeom>
          <a:solidFill>
            <a:srgbClr val="33455F"/>
          </a:solidFill>
          <a:ln/>
        </p:spPr>
      </p:sp>
      <p:pic>
        <p:nvPicPr>
          <p:cNvPr id="77" name="Image 10" descr="/home/claude/sms-deck/icons/ey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91690" y="5161788"/>
            <a:ext cx="118872" cy="118872"/>
          </a:xfrm>
          <a:prstGeom prst="rect">
            <a:avLst/>
          </a:prstGeom>
        </p:spPr>
      </p:pic>
      <p:sp>
        <p:nvSpPr>
          <p:cNvPr id="78" name="Shape 65"/>
          <p:cNvSpPr/>
          <p:nvPr/>
        </p:nvSpPr>
        <p:spPr>
          <a:xfrm>
            <a:off x="9843150" y="5102352"/>
            <a:ext cx="237744" cy="237744"/>
          </a:xfrm>
          <a:prstGeom prst="ellipse">
            <a:avLst/>
          </a:prstGeom>
          <a:solidFill>
            <a:srgbClr val="33455F"/>
          </a:solidFill>
          <a:ln/>
        </p:spPr>
      </p:sp>
      <p:pic>
        <p:nvPicPr>
          <p:cNvPr id="79" name="Image 11" descr="/home/claude/sms-deck/icons/edi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02586" y="5161788"/>
            <a:ext cx="118872" cy="118872"/>
          </a:xfrm>
          <a:prstGeom prst="rect">
            <a:avLst/>
          </a:prstGeom>
        </p:spPr>
      </p:pic>
      <p:sp>
        <p:nvSpPr>
          <p:cNvPr id="80" name="Shape 66"/>
          <p:cNvSpPr/>
          <p:nvPr/>
        </p:nvSpPr>
        <p:spPr>
          <a:xfrm>
            <a:off x="10154046" y="5102352"/>
            <a:ext cx="237744" cy="237744"/>
          </a:xfrm>
          <a:prstGeom prst="ellipse">
            <a:avLst/>
          </a:prstGeom>
          <a:solidFill>
            <a:srgbClr val="A8434A"/>
          </a:solidFill>
          <a:ln/>
        </p:spPr>
      </p:sp>
      <p:pic>
        <p:nvPicPr>
          <p:cNvPr id="81" name="Image 12" descr="/home/claude/sms-deck/icons/trash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13482" y="5161788"/>
            <a:ext cx="118872" cy="118872"/>
          </a:xfrm>
          <a:prstGeom prst="rect">
            <a:avLst/>
          </a:prstGeom>
        </p:spPr>
      </p:pic>
      <p:sp>
        <p:nvSpPr>
          <p:cNvPr id="82" name="Text 67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 SYSTEM</a:t>
            </a:r>
            <a:endParaRPr lang="en-US" sz="900" dirty="0"/>
          </a:p>
        </p:txBody>
      </p:sp>
      <p:sp>
        <p:nvSpPr>
          <p:cNvPr id="83" name="Text 68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66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a student, with validation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737360" y="1828800"/>
            <a:ext cx="8686800" cy="4434840"/>
          </a:xfrm>
          <a:prstGeom prst="roundRect">
            <a:avLst>
              <a:gd name="adj" fmla="val 1443"/>
            </a:avLst>
          </a:prstGeom>
          <a:solidFill>
            <a:srgbClr val="FBF8F2"/>
          </a:solidFill>
          <a:ln w="15875">
            <a:solidFill>
              <a:srgbClr val="E4DBC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65960" y="2029968"/>
            <a:ext cx="128016" cy="128016"/>
          </a:xfrm>
          <a:prstGeom prst="ellipse">
            <a:avLst/>
          </a:prstGeom>
          <a:solidFill>
            <a:srgbClr val="E4A2A2"/>
          </a:solidFill>
          <a:ln/>
        </p:spPr>
      </p:sp>
      <p:sp>
        <p:nvSpPr>
          <p:cNvPr id="6" name="Shape 4"/>
          <p:cNvSpPr/>
          <p:nvPr/>
        </p:nvSpPr>
        <p:spPr>
          <a:xfrm>
            <a:off x="2221992" y="2029968"/>
            <a:ext cx="128016" cy="128016"/>
          </a:xfrm>
          <a:prstGeom prst="ellipse">
            <a:avLst/>
          </a:prstGeom>
          <a:solidFill>
            <a:srgbClr val="E9D48E"/>
          </a:solidFill>
          <a:ln/>
        </p:spPr>
      </p:sp>
      <p:sp>
        <p:nvSpPr>
          <p:cNvPr id="7" name="Shape 5"/>
          <p:cNvSpPr/>
          <p:nvPr/>
        </p:nvSpPr>
        <p:spPr>
          <a:xfrm>
            <a:off x="2478024" y="2029968"/>
            <a:ext cx="128016" cy="128016"/>
          </a:xfrm>
          <a:prstGeom prst="ellipse">
            <a:avLst/>
          </a:prstGeom>
          <a:solidFill>
            <a:srgbClr val="A9D2AE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Student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011680" y="28346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11680" y="3054096"/>
            <a:ext cx="39319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21408" y="3054096"/>
            <a:ext cx="3712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Amara Uwase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17920" y="28346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17920" y="3054096"/>
            <a:ext cx="39319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3054096"/>
            <a:ext cx="3712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amara.uwase@mail.com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11680" y="36576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011680" y="3877056"/>
            <a:ext cx="39319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21408" y="3877056"/>
            <a:ext cx="3712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0788 123 456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17920" y="36576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17920" y="3877056"/>
            <a:ext cx="39319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3877056"/>
            <a:ext cx="3712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011680" y="44805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011680" y="4700016"/>
            <a:ext cx="39319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21408" y="4700016"/>
            <a:ext cx="3712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17920" y="44805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OF STUDY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217920" y="4700016"/>
            <a:ext cx="39319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4700016"/>
            <a:ext cx="3712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92440" y="5349240"/>
            <a:ext cx="2057400" cy="411480"/>
          </a:xfrm>
          <a:prstGeom prst="roundRect">
            <a:avLst>
              <a:gd name="adj" fmla="val 13333"/>
            </a:avLst>
          </a:prstGeom>
          <a:solidFill>
            <a:srgbClr val="B8874A"/>
          </a:solidFill>
          <a:ln/>
        </p:spPr>
      </p:sp>
      <p:sp>
        <p:nvSpPr>
          <p:cNvPr id="28" name="Text 26"/>
          <p:cNvSpPr/>
          <p:nvPr/>
        </p:nvSpPr>
        <p:spPr>
          <a:xfrm>
            <a:off x="8092440" y="53492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Student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 SYSTEM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66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record, fully on file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280160" y="1828800"/>
            <a:ext cx="9601200" cy="4206240"/>
          </a:xfrm>
          <a:prstGeom prst="roundRect">
            <a:avLst>
              <a:gd name="adj" fmla="val 1522"/>
            </a:avLst>
          </a:prstGeom>
          <a:solidFill>
            <a:srgbClr val="FBF8F2"/>
          </a:solidFill>
          <a:ln w="15875">
            <a:solidFill>
              <a:srgbClr val="E4DBC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029968"/>
            <a:ext cx="128016" cy="128016"/>
          </a:xfrm>
          <a:prstGeom prst="ellipse">
            <a:avLst/>
          </a:prstGeom>
          <a:solidFill>
            <a:srgbClr val="E4A2A2"/>
          </a:solidFill>
          <a:ln/>
        </p:spPr>
      </p:sp>
      <p:sp>
        <p:nvSpPr>
          <p:cNvPr id="6" name="Shape 4"/>
          <p:cNvSpPr/>
          <p:nvPr/>
        </p:nvSpPr>
        <p:spPr>
          <a:xfrm>
            <a:off x="1764792" y="2029968"/>
            <a:ext cx="128016" cy="128016"/>
          </a:xfrm>
          <a:prstGeom prst="ellipse">
            <a:avLst/>
          </a:prstGeom>
          <a:solidFill>
            <a:srgbClr val="E9D48E"/>
          </a:solidFill>
          <a:ln/>
        </p:spPr>
      </p:sp>
      <p:sp>
        <p:nvSpPr>
          <p:cNvPr id="7" name="Shape 5"/>
          <p:cNvSpPr/>
          <p:nvPr/>
        </p:nvSpPr>
        <p:spPr>
          <a:xfrm>
            <a:off x="2020824" y="2029968"/>
            <a:ext cx="128016" cy="128016"/>
          </a:xfrm>
          <a:prstGeom prst="ellipse">
            <a:avLst/>
          </a:prstGeom>
          <a:solidFill>
            <a:srgbClr val="A9D2AE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0" y="2331720"/>
            <a:ext cx="2743200" cy="3429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2651760"/>
            <a:ext cx="914400" cy="914400"/>
          </a:xfrm>
          <a:prstGeom prst="ellipse">
            <a:avLst/>
          </a:prstGeom>
          <a:solidFill>
            <a:srgbClr val="3F6B52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2651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91640" y="3703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Amara Uwase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91640" y="4023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STU-1001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23160" y="443484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E7E6"/>
          </a:solidFill>
          <a:ln/>
        </p:spPr>
      </p:sp>
      <p:sp>
        <p:nvSpPr>
          <p:cNvPr id="14" name="Text 12"/>
          <p:cNvSpPr/>
          <p:nvPr/>
        </p:nvSpPr>
        <p:spPr>
          <a:xfrm>
            <a:off x="2423160" y="44348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2331720"/>
            <a:ext cx="598932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606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903720" y="256946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amara.uwase@mail.com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92040" y="31729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903720" y="31363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0788 123 456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92040" y="37398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903720" y="37033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92040" y="430682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OF STUDY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903720" y="427024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92040" y="48737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DATE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903720" y="483717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Sep 2025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280160" y="614476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additionally see Edit and Delete buttons here — Students see this same view without them.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 SYSTEM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66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Student sees: browse-only, personalized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1672" cy="4114800"/>
          </a:xfrm>
          <a:prstGeom prst="roundRect">
            <a:avLst>
              <a:gd name="adj" fmla="val 1556"/>
            </a:avLst>
          </a:prstGeom>
          <a:solidFill>
            <a:srgbClr val="FBF8F2"/>
          </a:solidFill>
          <a:ln w="15875">
            <a:solidFill>
              <a:srgbClr val="E4DBC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75688"/>
            <a:ext cx="128016" cy="128016"/>
          </a:xfrm>
          <a:prstGeom prst="ellipse">
            <a:avLst/>
          </a:prstGeom>
          <a:solidFill>
            <a:srgbClr val="E4A2A2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2075688"/>
            <a:ext cx="128016" cy="128016"/>
          </a:xfrm>
          <a:prstGeom prst="ellipse">
            <a:avLst/>
          </a:prstGeom>
          <a:solidFill>
            <a:srgbClr val="E9D48E"/>
          </a:solidFill>
          <a:ln/>
        </p:spPr>
      </p:sp>
      <p:sp>
        <p:nvSpPr>
          <p:cNvPr id="7" name="Shape 5"/>
          <p:cNvSpPr/>
          <p:nvPr/>
        </p:nvSpPr>
        <p:spPr>
          <a:xfrm>
            <a:off x="1289304" y="2075688"/>
            <a:ext cx="128016" cy="128016"/>
          </a:xfrm>
          <a:prstGeom prst="ellipse">
            <a:avLst/>
          </a:prstGeom>
          <a:solidFill>
            <a:srgbClr val="A9D2AE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331720"/>
            <a:ext cx="10543032" cy="402336"/>
          </a:xfrm>
          <a:prstGeom prst="roundRect">
            <a:avLst>
              <a:gd name="adj" fmla="val 11364"/>
            </a:avLst>
          </a:prstGeom>
          <a:solidFill>
            <a:srgbClr val="F3E4C8"/>
          </a:solidFill>
          <a:ln w="12700">
            <a:solidFill>
              <a:srgbClr val="B887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395728"/>
            <a:ext cx="274320" cy="274320"/>
          </a:xfrm>
          <a:prstGeom prst="ellipse">
            <a:avLst/>
          </a:prstGeom>
          <a:solidFill>
            <a:srgbClr val="96692F"/>
          </a:solidFill>
          <a:ln/>
        </p:spPr>
      </p:sp>
      <p:pic>
        <p:nvPicPr>
          <p:cNvPr id="10" name="Image 0" descr="/home/claude/sms-deck/icons/user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464308"/>
            <a:ext cx="137160" cy="1371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2331720"/>
            <a:ext cx="9902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6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you, Amara Uwase — view your profile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22960" y="2898648"/>
            <a:ext cx="3392424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2971800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6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60120" y="3383280"/>
            <a:ext cx="31181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STUDENTS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398264" y="2898648"/>
            <a:ext cx="3392424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35424" y="2971800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6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535424" y="3383280"/>
            <a:ext cx="31181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OFFERED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973568" y="2898648"/>
            <a:ext cx="3392424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10728" y="2971800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6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110728" y="3383280"/>
            <a:ext cx="31181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GROUPS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22960" y="3858768"/>
            <a:ext cx="10543032" cy="1856232"/>
          </a:xfrm>
          <a:prstGeom prst="roundRect">
            <a:avLst>
              <a:gd name="adj" fmla="val 2463"/>
            </a:avLst>
          </a:prstGeom>
          <a:solidFill>
            <a:srgbClr val="FFFFFF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5840" y="3968496"/>
            <a:ext cx="442807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433913" y="3968496"/>
            <a:ext cx="295204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385962" y="3968496"/>
            <a:ext cx="15814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9967417" y="3968496"/>
            <a:ext cx="15814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22960" y="4261104"/>
            <a:ext cx="10543032" cy="457200"/>
          </a:xfrm>
          <a:prstGeom prst="rect">
            <a:avLst/>
          </a:prstGeom>
          <a:solidFill>
            <a:srgbClr val="E7EFE9"/>
          </a:solidFill>
          <a:ln/>
        </p:spPr>
      </p:sp>
      <p:sp>
        <p:nvSpPr>
          <p:cNvPr id="27" name="Shape 24"/>
          <p:cNvSpPr/>
          <p:nvPr/>
        </p:nvSpPr>
        <p:spPr>
          <a:xfrm>
            <a:off x="822960" y="4242816"/>
            <a:ext cx="10543032" cy="0"/>
          </a:xfrm>
          <a:prstGeom prst="line">
            <a:avLst/>
          </a:prstGeom>
          <a:noFill/>
          <a:ln w="9525">
            <a:solidFill>
              <a:srgbClr val="E4DBC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05840" y="4334256"/>
            <a:ext cx="292608" cy="29260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9" name="Text 26"/>
          <p:cNvSpPr/>
          <p:nvPr/>
        </p:nvSpPr>
        <p:spPr>
          <a:xfrm>
            <a:off x="1005840" y="4334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389888" y="4352544"/>
            <a:ext cx="406231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Amara Uwase   YOU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433913" y="4389120"/>
            <a:ext cx="286060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385962" y="4389120"/>
            <a:ext cx="1581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9939985" y="4361688"/>
            <a:ext cx="237744" cy="237744"/>
          </a:xfrm>
          <a:prstGeom prst="ellipse">
            <a:avLst/>
          </a:prstGeom>
          <a:solidFill>
            <a:srgbClr val="33455F"/>
          </a:solidFill>
          <a:ln/>
        </p:spPr>
      </p:sp>
      <p:pic>
        <p:nvPicPr>
          <p:cNvPr id="34" name="Image 1" descr="/home/claude/sms-deck/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9421" y="4421124"/>
            <a:ext cx="118872" cy="118872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822960" y="4791456"/>
            <a:ext cx="10543032" cy="0"/>
          </a:xfrm>
          <a:prstGeom prst="line">
            <a:avLst/>
          </a:prstGeom>
          <a:noFill/>
          <a:ln w="9525">
            <a:solidFill>
              <a:srgbClr val="E4DBC8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005840" y="4882896"/>
            <a:ext cx="292608" cy="29260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7" name="Text 33"/>
          <p:cNvSpPr/>
          <p:nvPr/>
        </p:nvSpPr>
        <p:spPr>
          <a:xfrm>
            <a:off x="1005840" y="48828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JP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1389888" y="4901184"/>
            <a:ext cx="406231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Paul Habimana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5433913" y="4937760"/>
            <a:ext cx="286060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IT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8385962" y="4937760"/>
            <a:ext cx="1581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9939985" y="4910328"/>
            <a:ext cx="237744" cy="237744"/>
          </a:xfrm>
          <a:prstGeom prst="ellipse">
            <a:avLst/>
          </a:prstGeom>
          <a:solidFill>
            <a:srgbClr val="33455F"/>
          </a:solidFill>
          <a:ln/>
        </p:spPr>
      </p:sp>
      <p:pic>
        <p:nvPicPr>
          <p:cNvPr id="42" name="Image 2" descr="/home/claude/sms-deck/icons/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421" y="4969764"/>
            <a:ext cx="118872" cy="118872"/>
          </a:xfrm>
          <a:prstGeom prst="rect">
            <a:avLst/>
          </a:prstGeom>
        </p:spPr>
      </p:pic>
      <p:sp>
        <p:nvSpPr>
          <p:cNvPr id="43" name="Shape 38"/>
          <p:cNvSpPr/>
          <p:nvPr/>
        </p:nvSpPr>
        <p:spPr>
          <a:xfrm>
            <a:off x="822960" y="5340096"/>
            <a:ext cx="10543032" cy="0"/>
          </a:xfrm>
          <a:prstGeom prst="line">
            <a:avLst/>
          </a:prstGeom>
          <a:noFill/>
          <a:ln w="9525">
            <a:solidFill>
              <a:srgbClr val="E4DBC8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005840" y="5431536"/>
            <a:ext cx="292608" cy="29260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5" name="Text 40"/>
          <p:cNvSpPr/>
          <p:nvPr/>
        </p:nvSpPr>
        <p:spPr>
          <a:xfrm>
            <a:off x="1005840" y="54315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</a:t>
            </a:r>
            <a:endParaRPr lang="en-US" sz="800" dirty="0"/>
          </a:p>
        </p:txBody>
      </p:sp>
      <p:sp>
        <p:nvSpPr>
          <p:cNvPr id="46" name="Text 41"/>
          <p:cNvSpPr/>
          <p:nvPr/>
        </p:nvSpPr>
        <p:spPr>
          <a:xfrm>
            <a:off x="1389888" y="5449824"/>
            <a:ext cx="406231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Mukamana</a:t>
            </a:r>
            <a:endParaRPr lang="en-US" sz="1000" dirty="0"/>
          </a:p>
        </p:txBody>
      </p:sp>
      <p:sp>
        <p:nvSpPr>
          <p:cNvPr id="47" name="Text 42"/>
          <p:cNvSpPr/>
          <p:nvPr/>
        </p:nvSpPr>
        <p:spPr>
          <a:xfrm>
            <a:off x="5433913" y="5486400"/>
            <a:ext cx="286060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Eng.</a:t>
            </a:r>
            <a:endParaRPr lang="en-US" sz="950" dirty="0"/>
          </a:p>
        </p:txBody>
      </p:sp>
      <p:sp>
        <p:nvSpPr>
          <p:cNvPr id="48" name="Text 43"/>
          <p:cNvSpPr/>
          <p:nvPr/>
        </p:nvSpPr>
        <p:spPr>
          <a:xfrm>
            <a:off x="8385962" y="5486400"/>
            <a:ext cx="1581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950" dirty="0"/>
          </a:p>
        </p:txBody>
      </p:sp>
      <p:sp>
        <p:nvSpPr>
          <p:cNvPr id="49" name="Shape 44"/>
          <p:cNvSpPr/>
          <p:nvPr/>
        </p:nvSpPr>
        <p:spPr>
          <a:xfrm>
            <a:off x="9939985" y="5458968"/>
            <a:ext cx="237744" cy="237744"/>
          </a:xfrm>
          <a:prstGeom prst="ellipse">
            <a:avLst/>
          </a:prstGeom>
          <a:solidFill>
            <a:srgbClr val="33455F"/>
          </a:solidFill>
          <a:ln/>
        </p:spPr>
      </p:sp>
      <p:pic>
        <p:nvPicPr>
          <p:cNvPr id="50" name="Image 3" descr="/home/claude/sms-deck/icons/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9421" y="5518404"/>
            <a:ext cx="118872" cy="118872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548640" y="609904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Add, Edit or Delete anywhere on this page — the whole view is read-only.</a:t>
            </a:r>
            <a:endParaRPr lang="en-US" sz="1150" dirty="0"/>
          </a:p>
        </p:txBody>
      </p:sp>
      <p:sp>
        <p:nvSpPr>
          <p:cNvPr id="52" name="Text 46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 SYSTEM</a:t>
            </a:r>
            <a:endParaRPr lang="en-US" sz="900" dirty="0"/>
          </a:p>
        </p:txBody>
      </p:sp>
      <p:sp>
        <p:nvSpPr>
          <p:cNvPr id="53" name="Text 47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66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a registrar needs, in one place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640080" cy="640080"/>
          </a:xfrm>
          <a:prstGeom prst="ellipse">
            <a:avLst/>
          </a:prstGeom>
          <a:solidFill>
            <a:srgbClr val="B8874A"/>
          </a:solidFill>
          <a:ln/>
        </p:spPr>
      </p:sp>
      <p:pic>
        <p:nvPicPr>
          <p:cNvPr id="5" name="Image 0" descr="/home/claude/sms-deck/icons/a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22174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0574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&amp; Save Students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25880" y="238658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full student details in one validated form.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429000"/>
            <a:ext cx="640080" cy="640080"/>
          </a:xfrm>
          <a:prstGeom prst="ellipse">
            <a:avLst/>
          </a:prstGeom>
          <a:solidFill>
            <a:srgbClr val="B8874A"/>
          </a:solidFill>
          <a:ln/>
        </p:spPr>
      </p:sp>
      <p:pic>
        <p:nvPicPr>
          <p:cNvPr id="9" name="Image 1" descr="/home/claude/sms-deck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35890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4290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Search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25880" y="375818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anyone by name, email or course as you type.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800600"/>
            <a:ext cx="640080" cy="640080"/>
          </a:xfrm>
          <a:prstGeom prst="ellipse">
            <a:avLst/>
          </a:prstGeom>
          <a:solidFill>
            <a:srgbClr val="B8874A"/>
          </a:solidFill>
          <a:ln/>
        </p:spPr>
      </p:sp>
      <p:pic>
        <p:nvPicPr>
          <p:cNvPr id="13" name="Image 2" descr="/home/claude/sms-deck/icons/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496062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8006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Filters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25880" y="512978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the list by course, gender or year of study.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309360" y="2057400"/>
            <a:ext cx="640080" cy="640080"/>
          </a:xfrm>
          <a:prstGeom prst="ellipse">
            <a:avLst/>
          </a:prstGeom>
          <a:solidFill>
            <a:srgbClr val="B8874A"/>
          </a:solidFill>
          <a:ln/>
        </p:spPr>
      </p:sp>
      <p:pic>
        <p:nvPicPr>
          <p:cNvPr id="17" name="Image 3" descr="/home/claude/sms-deck/icons/ed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380" y="221742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86600" y="20574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 Records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7086600" y="238658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any student’s details without re-entering everything.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309360" y="3429000"/>
            <a:ext cx="640080" cy="640080"/>
          </a:xfrm>
          <a:prstGeom prst="ellipse">
            <a:avLst/>
          </a:prstGeom>
          <a:solidFill>
            <a:srgbClr val="B8874A"/>
          </a:solidFill>
          <a:ln/>
        </p:spPr>
      </p:sp>
      <p:pic>
        <p:nvPicPr>
          <p:cNvPr id="21" name="Image 4" descr="/home/claude/sms-deck/icons/tra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9380" y="358902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86600" y="34290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Deletion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7086600" y="375818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confirmation step protects against accidental removal.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309360" y="4800600"/>
            <a:ext cx="640080" cy="640080"/>
          </a:xfrm>
          <a:prstGeom prst="ellipse">
            <a:avLst/>
          </a:prstGeom>
          <a:solidFill>
            <a:srgbClr val="B8874A"/>
          </a:solidFill>
          <a:ln/>
        </p:spPr>
      </p:sp>
      <p:pic>
        <p:nvPicPr>
          <p:cNvPr id="25" name="Image 5" descr="/home/claude/sms-deck/icons/stat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9380" y="496062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86600" y="48006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Statistics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7086600" y="512978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totals and gender breakdown update automatically.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 SYSTEM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66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Records are saved right in the browser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BF8F2"/>
          </a:solidFill>
          <a:ln w="15875">
            <a:solidFill>
              <a:srgbClr val="E4DB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51660" y="2491740"/>
            <a:ext cx="594360" cy="594360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6" name="Image 0" descr="/home/claude/sms-deck/icons/a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0" y="2640330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54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Form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611880" y="2825496"/>
            <a:ext cx="1005840" cy="292608"/>
          </a:xfrm>
          <a:prstGeom prst="rightArrow">
            <a:avLst/>
          </a:prstGeom>
          <a:solidFill>
            <a:srgbClr val="96692F"/>
          </a:solidFill>
          <a:ln/>
        </p:spPr>
      </p:sp>
      <p:sp>
        <p:nvSpPr>
          <p:cNvPr id="9" name="Shape 6"/>
          <p:cNvSpPr/>
          <p:nvPr/>
        </p:nvSpPr>
        <p:spPr>
          <a:xfrm>
            <a:off x="4754880" y="23774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B2A41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83580" y="2491740"/>
            <a:ext cx="594360" cy="594360"/>
          </a:xfrm>
          <a:prstGeom prst="ellipse">
            <a:avLst/>
          </a:prstGeom>
          <a:solidFill>
            <a:srgbClr val="B8874A"/>
          </a:solidFill>
          <a:ln/>
        </p:spPr>
      </p:sp>
      <p:pic>
        <p:nvPicPr>
          <p:cNvPr id="11" name="Image 1" descr="/home/claude/sms-deck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170" y="264033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154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localStorage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7543800" y="2825496"/>
            <a:ext cx="1005840" cy="292608"/>
          </a:xfrm>
          <a:prstGeom prst="rightArrow">
            <a:avLst/>
          </a:prstGeom>
          <a:solidFill>
            <a:srgbClr val="96692F"/>
          </a:solidFill>
          <a:ln/>
        </p:spPr>
      </p:sp>
      <p:sp>
        <p:nvSpPr>
          <p:cNvPr id="14" name="Shape 10"/>
          <p:cNvSpPr/>
          <p:nvPr/>
        </p:nvSpPr>
        <p:spPr>
          <a:xfrm>
            <a:off x="8686800" y="23774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BF8F2"/>
          </a:solidFill>
          <a:ln w="15875">
            <a:solidFill>
              <a:srgbClr val="E4DB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715500" y="2491740"/>
            <a:ext cx="594360" cy="594360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16" name="Image 2" descr="/home/claude/sms-deck/icons/l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4090" y="264033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6800" y="3154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Table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829300" y="4000500"/>
            <a:ext cx="502920" cy="502920"/>
          </a:xfrm>
          <a:prstGeom prst="ellipse">
            <a:avLst/>
          </a:prstGeom>
          <a:solidFill>
            <a:srgbClr val="3F6B52"/>
          </a:solidFill>
          <a:ln/>
        </p:spPr>
      </p:sp>
      <p:pic>
        <p:nvPicPr>
          <p:cNvPr id="19" name="Image 3" descr="/home/claude/sms-deck/icons/refre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30" y="4126230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657600" y="4572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a refresh or a closed browser — no backend required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add, edit, or delete writes straight to the browser’s local storage, so the table you see is always the true, current record — even after closing the tab. The signed-in role (Admin or Student) is saved the same way.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 SYSTEM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66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DEVELOPER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JavaScript, put into practice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16636" y="2148840"/>
            <a:ext cx="2084832" cy="3337560"/>
          </a:xfrm>
          <a:prstGeom prst="roundRect">
            <a:avLst>
              <a:gd name="adj" fmla="val 3509"/>
            </a:avLst>
          </a:prstGeom>
          <a:solidFill>
            <a:srgbClr val="FBF8F2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3292" y="2423160"/>
            <a:ext cx="731520" cy="731520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6" name="Image 0" descr="/home/claude/sms-deck/icons/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172" y="2606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3796" y="333756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 &amp; Validation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1228" y="4114800"/>
            <a:ext cx="175564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fields, email/phone patterns and duplicate checks before anything is saved.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84348" y="2148840"/>
            <a:ext cx="2084832" cy="3337560"/>
          </a:xfrm>
          <a:prstGeom prst="roundRect">
            <a:avLst>
              <a:gd name="adj" fmla="val 3509"/>
            </a:avLst>
          </a:prstGeom>
          <a:solidFill>
            <a:srgbClr val="FBF8F2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61004" y="2423160"/>
            <a:ext cx="731520" cy="731520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11" name="Image 1" descr="/home/claude/sms-deck/icons/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884" y="26060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21508" y="333756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 Creation &amp; Rendering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948940" y="4114800"/>
            <a:ext cx="175564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stat cards and detail views are all built from data, not hardcoded HTML.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52060" y="2148840"/>
            <a:ext cx="2084832" cy="3337560"/>
          </a:xfrm>
          <a:prstGeom prst="roundRect">
            <a:avLst>
              <a:gd name="adj" fmla="val 3509"/>
            </a:avLst>
          </a:prstGeom>
          <a:solidFill>
            <a:srgbClr val="FBF8F2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28716" y="2423160"/>
            <a:ext cx="731520" cy="731520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16" name="Image 2" descr="/home/claude/sms-deck/icons/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596" y="26060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89220" y="333756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 &amp; Objects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216652" y="4114800"/>
            <a:ext cx="175564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filter(), find() and map() power search, lookups and list rendering.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319772" y="2148840"/>
            <a:ext cx="2084832" cy="3337560"/>
          </a:xfrm>
          <a:prstGeom prst="roundRect">
            <a:avLst>
              <a:gd name="adj" fmla="val 3509"/>
            </a:avLst>
          </a:prstGeom>
          <a:solidFill>
            <a:srgbClr val="FBF8F2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996428" y="2423160"/>
            <a:ext cx="731520" cy="731520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21" name="Image 3" descr="/home/claude/sms-deck/icons/refre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9308" y="26060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6932" y="333756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Listeners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84364" y="4114800"/>
            <a:ext cx="175564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Input, change, click and submit events drive every interaction on the page.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587484" y="2148840"/>
            <a:ext cx="2084832" cy="3337560"/>
          </a:xfrm>
          <a:prstGeom prst="roundRect">
            <a:avLst>
              <a:gd name="adj" fmla="val 3509"/>
            </a:avLst>
          </a:prstGeom>
          <a:solidFill>
            <a:srgbClr val="FBF8F2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264140" y="2423160"/>
            <a:ext cx="731520" cy="731520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26" name="Image 4" descr="/home/claude/sms-deck/icon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7020" y="260604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24644" y="333756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localStorage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752076" y="4114800"/>
            <a:ext cx="175564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JSON.stringify / JSON.parse persist every record straight to the browser.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way to practice the fundamentals that show up in almost every front-end project.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 SYSTEM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66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helps the registrar’s office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8348" y="21031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BF8F2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2748" y="2354580"/>
            <a:ext cx="777240" cy="777240"/>
          </a:xfrm>
          <a:prstGeom prst="ellipse">
            <a:avLst/>
          </a:prstGeom>
          <a:solidFill>
            <a:srgbClr val="3F6B52"/>
          </a:solidFill>
          <a:ln/>
        </p:spPr>
      </p:sp>
      <p:pic>
        <p:nvPicPr>
          <p:cNvPr id="6" name="Image 0" descr="/home/claude/sms-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7058" y="254889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1228" y="3291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errors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26948" y="393192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catches missing or duplicate details before they’re saved.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60420" y="21031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BF8F2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74820" y="2354580"/>
            <a:ext cx="777240" cy="777240"/>
          </a:xfrm>
          <a:prstGeom prst="ellipse">
            <a:avLst/>
          </a:prstGeom>
          <a:solidFill>
            <a:srgbClr val="B8874A"/>
          </a:solidFill>
          <a:ln/>
        </p:spPr>
      </p:sp>
      <p:pic>
        <p:nvPicPr>
          <p:cNvPr id="11" name="Image 1" descr="/home/claude/sms-deck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130" y="254889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3300" y="3291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answers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89020" y="393192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student’s record is a search away, instead of a manual lookup.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22492" y="21031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BF8F2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36892" y="2354580"/>
            <a:ext cx="777240" cy="777240"/>
          </a:xfrm>
          <a:prstGeom prst="ellipse">
            <a:avLst/>
          </a:prstGeom>
          <a:solidFill>
            <a:srgbClr val="A8434A"/>
          </a:solidFill>
          <a:ln/>
        </p:spPr>
      </p:sp>
      <p:pic>
        <p:nvPicPr>
          <p:cNvPr id="16" name="Image 2" descr="/home/claude/sms-deck/icons/sta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202" y="254889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5372" y="3291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overview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51092" y="393192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shows totals and trends the moment you open it.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84564" y="21031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BF8F2"/>
          </a:solidFill>
          <a:ln w="12700">
            <a:solidFill>
              <a:srgbClr val="E4DB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998964" y="2354580"/>
            <a:ext cx="777240" cy="777240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21" name="Image 3" descr="/home/claude/sms-deck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3274" y="254889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67444" y="3291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source of truth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313164" y="393192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reads from the same saved list, so nothing goes out of sync.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 SYSTEM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68696" y="1760220"/>
            <a:ext cx="1051560" cy="1051560"/>
          </a:xfrm>
          <a:prstGeom prst="ellipse">
            <a:avLst/>
          </a:prstGeom>
          <a:solidFill>
            <a:srgbClr val="B8874A"/>
          </a:solidFill>
          <a:ln/>
        </p:spPr>
      </p:sp>
      <p:pic>
        <p:nvPicPr>
          <p:cNvPr id="3" name="Image 0" descr="/home/claude/sms-deck/icons/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1586" y="2023110"/>
            <a:ext cx="525780" cy="5257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32461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dashboard. Every student record.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71600" y="40690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· Search · Filter · Edit · Delete · Track — one Admin view, one Student view, all saved locally.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150" kern="0" dirty="0">
                <a:solidFill>
                  <a:srgbClr val="B88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2026-08-01T21:00:37Z</dcterms:created>
  <dcterms:modified xsi:type="dcterms:W3CDTF">2026-08-01T21:00:37Z</dcterms:modified>
</cp:coreProperties>
</file>